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8B1A1A"/>
                </a:solidFill>
                <a:latin typeface="Calibri"/>
              </a:rPr>
              <a:t>VPE 教程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5A1111"/>
                </a:solidFill>
                <a:latin typeface="Calibri"/>
              </a:rPr>
              <a:t>Memory Maker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2C2C2C"/>
                </a:solidFill>
                <a:latin typeface="Calibri"/>
              </a:rPr>
              <a:t>管理一场完整的会议周期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6B6B6B"/>
                </a:solidFill>
                <a:latin typeface="Calibri"/>
              </a:rPr>
              <a:t>面向教育副主席 (VPE) 的分步操作指南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937760"/>
            <a:ext cx="22860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生成于 2026-06-22  ·  Memory Maker BETA  ·  俱乐部内部培训使用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CONTENTS  · 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本教程涵盖的内容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阶段一 — 会前规划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幻灯片 4–11  ·  创建会议、搭建议程、开放角色预订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阶段二 — 接待签到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幻灯片 12–13 ·  SAA 负责签到，VPE 保持畅通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阶段三 — 现场会议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幻灯片 14–17 ·  发布 → 启动 → 应对变更 → 结束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97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阶段四 — 收尾与记录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幻灯片 18–22 ·  唱票、演讲记录、Pathways、归档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参考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幻灯片 23–28 ·  状态流转、权限、常见坑、术语表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OVERVIEW  ·  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会议周期的四个阶段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06040" cy="384048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0604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C2C2C"/>
                </a:solidFill>
                <a:latin typeface="Calibri"/>
              </a:rPr>
              <a:t>会前规划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8B1A1A"/>
                </a:solidFill>
                <a:latin typeface="Calibri"/>
              </a:rPr>
              <a:t>T-7 → T-1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搭建议程并
开放预订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828800"/>
            <a:ext cx="2606040" cy="384048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19272" y="1828800"/>
            <a:ext cx="26060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8745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56032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C2C2C"/>
                </a:solidFill>
                <a:latin typeface="Calibri"/>
              </a:rPr>
              <a:t>接待签到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3657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D4A04C"/>
                </a:solidFill>
                <a:latin typeface="Calibri"/>
              </a:rPr>
              <a:t>T-0  18:30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411480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SAA 为宾客和
会员签到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1828800"/>
            <a:ext cx="2606040" cy="384048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9904" y="1828800"/>
            <a:ext cx="2606040" cy="54864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9904" y="18745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256032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C2C2C"/>
                </a:solidFill>
                <a:latin typeface="Calibri"/>
              </a:rPr>
              <a:t>现场会议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3657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A1111"/>
                </a:solidFill>
                <a:latin typeface="Calibri"/>
              </a:rPr>
              <a:t>T-0  19:00–21:00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411480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发布 → 启动
→ 应对 → 结束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0536" y="1828800"/>
            <a:ext cx="2606040" cy="384048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60536" y="1828800"/>
            <a:ext cx="2606040" cy="548640"/>
          </a:xfrm>
          <a:prstGeom prst="rect">
            <a:avLst/>
          </a:prstGeom>
          <a:solidFill>
            <a:srgbClr val="1E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0536" y="18745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56032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C2C2C"/>
                </a:solidFill>
                <a:latin typeface="Calibri"/>
              </a:rPr>
              <a:t>收尾与记录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0536" y="3657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E407A"/>
                </a:solidFill>
                <a:latin typeface="Calibri"/>
              </a:rPr>
              <a:t>T+0 → T+1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0536" y="411480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唱票、记录演讲、
归档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solidFill>
            <a:srgbClr val="F7F3EE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5A1111"/>
                </a:solidFill>
                <a:latin typeface="Calibri"/>
              </a:rPr>
              <a:t>→  VPE 主导阶段一与阶段三，协作阶段四，阶段二保持畅通即可。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4A04C"/>
                </a:solidFill>
                <a:latin typeface="Calibri"/>
              </a:rPr>
              <a:t>PHASE 1  ·  阶段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会前规划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T-7 至 T-1 天  ·  VPE 的主要工作阶段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1.1  ·  步骤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打开议程页面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议程页面是所有会议相关操作的主页。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路由</a:t>
            </a:r>
            <a:r>
              <a:rPr sz="1500">
                <a:solidFill>
                  <a:srgbClr val="2C2C2C"/>
                </a:solidFill>
                <a:latin typeface="Calibri"/>
              </a:rPr>
              <a:t> — /agenda — 也可通过顶部导航的 Meetings 进入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会议选择器</a:t>
            </a:r>
            <a:r>
              <a:rPr sz="1500">
                <a:solidFill>
                  <a:srgbClr val="2C2C2C"/>
                </a:solidFill>
                <a:latin typeface="Calibri"/>
              </a:rPr>
              <a:t> — 使用下拉菜单选择要操作的会议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状态组</a:t>
            </a:r>
            <a:r>
              <a:rPr sz="1500">
                <a:solidFill>
                  <a:srgbClr val="2C2C2C"/>
                </a:solidFill>
                <a:latin typeface="Calibri"/>
              </a:rPr>
              <a:t> — 显示当前会议的状态：Unpublished / Not Started / Running / Finished / Cancelled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议程表格</a:t>
            </a:r>
            <a:r>
              <a:rPr sz="1500">
                <a:solidFill>
                  <a:srgbClr val="2C2C2C"/>
                </a:solidFill>
                <a:latin typeface="Calibri"/>
              </a:rPr>
              <a:t> — 列出所有环节：时间、角色、负责人、项目、校验标志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gend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/agenda 页面 — 会议 #982（2026-08-04），状态：Not Started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1.2  ·  步骤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从模板创建会议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填写日期、主题与模板，建立新会议。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点击新建</a:t>
            </a:r>
            <a:r>
              <a:rPr sz="1500">
                <a:solidFill>
                  <a:srgbClr val="2C2C2C"/>
                </a:solidFill>
                <a:latin typeface="Calibri"/>
              </a:rPr>
              <a:t> — 在议程编辑器顶部，或通过右上角菜单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填写表单</a:t>
            </a:r>
            <a:r>
              <a:rPr sz="1500">
                <a:solidFill>
                  <a:srgbClr val="2C2C2C"/>
                </a:solidFill>
                <a:latin typeface="Calibri"/>
              </a:rPr>
              <a:t> — 日期、会议编号、标题/主题、副标题、类型、媒体链接、模板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模板文件</a:t>
            </a:r>
            <a:r>
              <a:rPr sz="1500">
                <a:solidFill>
                  <a:srgbClr val="2C2C2C"/>
                </a:solidFill>
                <a:latin typeface="Calibri"/>
              </a:rPr>
              <a:t> — 决定默认的议程项目（例如标准俱乐部会议）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保存</a:t>
            </a:r>
            <a:r>
              <a:rPr sz="1500">
                <a:solidFill>
                  <a:srgbClr val="2C2C2C"/>
                </a:solidFill>
                <a:latin typeface="Calibri"/>
              </a:rPr>
              <a:t> — POST /agenda/create — 需要 MEETING_CREATE 权限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etting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设置 → 模块 — 生成幻灯片前请确认 'Data/Slides Export' 已开启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1.3  ·  步骤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搭建议程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对每个环节进行内联编辑：时间、角色、项目以及会议级字段。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增删环节</a:t>
            </a:r>
            <a:r>
              <a:rPr sz="1500">
                <a:solidFill>
                  <a:srgbClr val="2C2C2C"/>
                </a:solidFill>
                <a:latin typeface="Calibri"/>
              </a:rPr>
              <a:t> — 使用表格底部的行控件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调整顺序</a:t>
            </a:r>
            <a:r>
              <a:rPr sz="1500">
                <a:solidFill>
                  <a:srgbClr val="2C2C2C"/>
                </a:solidFill>
                <a:latin typeface="Calibri"/>
              </a:rPr>
              <a:t> — 拖动行把手，或使用上下箭头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编辑开始时间</a:t>
            </a:r>
            <a:r>
              <a:rPr sz="1500">
                <a:solidFill>
                  <a:srgbClr val="2C2C2C"/>
                </a:solidFill>
                <a:latin typeface="Calibri"/>
              </a:rPr>
              <a:t> — 点击时间单元格，输入 24h 制 HH:MM — 冲突会标红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每日一词 (WOD)</a:t>
            </a:r>
            <a:r>
              <a:rPr sz="1500">
                <a:solidFill>
                  <a:srgbClr val="2C2C2C"/>
                </a:solidFill>
                <a:latin typeface="Calibri"/>
              </a:rPr>
              <a:t> — 在顶部 wod-display 区块设置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GE 模式</a:t>
            </a:r>
            <a:r>
              <a:rPr sz="1500">
                <a:solidFill>
                  <a:srgbClr val="2C2C2C"/>
                </a:solidFill>
                <a:latin typeface="Calibri"/>
              </a:rPr>
              <a:t> — ge_mode 下拉框控制总评人报告风格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红色徽标</a:t>
            </a:r>
            <a:r>
              <a:rPr sz="1500">
                <a:solidFill>
                  <a:srgbClr val="2C2C2C"/>
                </a:solidFill>
                <a:latin typeface="Calibri"/>
              </a:rPr>
              <a:t> — 表示校验问题 — 发布前先解决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gend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议程表格 — 每一行都可以内联编辑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1.4  ·  步骤 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为备稿演讲添加项目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备稿演讲环节标记为 Valid_for_Project = true，需要绑定 Pathways 项目。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点击项目单元格</a:t>
            </a:r>
            <a:r>
              <a:rPr sz="1500">
                <a:solidFill>
                  <a:srgbClr val="2C2C2C"/>
                </a:solidFill>
                <a:latin typeface="Calibri"/>
              </a:rPr>
              <a:t> — 在该备稿演讲所在行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选择路径</a:t>
            </a:r>
            <a:r>
              <a:rPr sz="1500">
                <a:solidFill>
                  <a:srgbClr val="2C2C2C"/>
                </a:solidFill>
                <a:latin typeface="Calibri"/>
              </a:rPr>
              <a:t> — 例如 Dynamic Leadership、Presentation Mastery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选择项目</a:t>
            </a:r>
            <a:r>
              <a:rPr sz="1500">
                <a:solidFill>
                  <a:srgbClr val="2C2C2C"/>
                </a:solidFill>
                <a:latin typeface="Calibri"/>
              </a:rPr>
              <a:t> — 例如 Level 1 — Ice Breaker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可选标题</a:t>
            </a:r>
            <a:r>
              <a:rPr sz="1500">
                <a:solidFill>
                  <a:srgbClr val="2C2C2C"/>
                </a:solidFill>
                <a:latin typeface="Calibri"/>
              </a:rPr>
              <a:t> — 会显示在幻灯片和演讲记录中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如未定</a:t>
            </a:r>
            <a:r>
              <a:rPr sz="1500">
                <a:solidFill>
                  <a:srgbClr val="2C2C2C"/>
                </a:solidFill>
                <a:latin typeface="Calibri"/>
              </a:rPr>
              <a:t> — 留空即可 — 会议启动 (Start) 前补上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thway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Pathways Library — 备稿演讲项目目录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1.5  ·  步骤 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开放角色预订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发布 (Publish) 后，所有会员即可预订角色。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点击 Publish</a:t>
            </a:r>
            <a:r>
              <a:rPr sz="1500">
                <a:solidFill>
                  <a:srgbClr val="2C2C2C"/>
                </a:solidFill>
                <a:latin typeface="Calibri"/>
              </a:rPr>
              <a:t> — 在议程页面的状态组中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确认提示</a:t>
            </a:r>
            <a:r>
              <a:rPr sz="1500">
                <a:solidFill>
                  <a:srgbClr val="2C2C2C"/>
                </a:solidFill>
                <a:latin typeface="Calibri"/>
              </a:rPr>
              <a:t> — Memory Maker 会提醒你预订将对全体会员开放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状态切换</a:t>
            </a:r>
            <a:r>
              <a:rPr sz="1500">
                <a:solidFill>
                  <a:srgbClr val="2C2C2C"/>
                </a:solidFill>
                <a:latin typeface="Calibri"/>
              </a:rPr>
              <a:t> — Unpublished → Not Started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会员可见 /booking</a:t>
            </a:r>
            <a:r>
              <a:rPr sz="1500">
                <a:solidFill>
                  <a:srgbClr val="2C2C2C"/>
                </a:solidFill>
                <a:latin typeface="Calibri"/>
              </a:rPr>
              <a:t> — 自助预订与候补名单启用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提示</a:t>
            </a:r>
            <a:r>
              <a:rPr sz="1500">
                <a:solidFill>
                  <a:srgbClr val="2C2C2C"/>
                </a:solidFill>
                <a:latin typeface="Calibri"/>
              </a:rPr>
              <a:t> — 发布后调整议程结构会更麻烦，请先定稿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gend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议程页面状态组 — 点击 Publish 开放预订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1.6  ·  步骤 1.6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预订或分配角色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会员自助预订；你负责填补空缺槽位、分配评估人。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会员自助预订</a:t>
            </a:r>
            <a:r>
              <a:rPr sz="1500">
                <a:solidFill>
                  <a:srgbClr val="2C2C2C"/>
                </a:solidFill>
                <a:latin typeface="Calibri"/>
              </a:rPr>
              <a:t> — 访问 /booking，选会议，点击槽位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候补名单</a:t>
            </a:r>
            <a:r>
              <a:rPr sz="1500">
                <a:solidFill>
                  <a:srgbClr val="2C2C2C"/>
                </a:solidFill>
                <a:latin typeface="Calibri"/>
              </a:rPr>
              <a:t> — 已满的槽位显示「加入候补」 — 负责人取消时自动提升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干部分配</a:t>
            </a:r>
            <a:r>
              <a:rPr sz="1500">
                <a:solidFill>
                  <a:srgbClr val="2C2C2C"/>
                </a:solidFill>
                <a:latin typeface="Calibri"/>
              </a:rPr>
              <a:t> — 在议程页面点击负责人单元格，选择联系人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提前 24–48 小时补位</a:t>
            </a:r>
            <a:r>
              <a:rPr sz="1500">
                <a:solidFill>
                  <a:srgbClr val="2C2C2C"/>
                </a:solidFill>
                <a:latin typeface="Calibri"/>
              </a:rPr>
              <a:t> — 填补必需的空白角色；为演讲分配评估人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提示</a:t>
            </a:r>
            <a:r>
              <a:rPr sz="1500">
                <a:solidFill>
                  <a:srgbClr val="2C2C2C"/>
                </a:solidFill>
                <a:latin typeface="Calibri"/>
              </a:rPr>
              <a:t> — 会前 1–2 天查看 Planner，了解会员的预订意向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/booking — 会员看到的预订助手页面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1.7  ·  步骤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会前一天自查清单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在会议前一天逐项过一遍。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议程中没有红色校验徽标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每个备稿演讲都已绑定 Pathways 项目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每个必需角色都有负责人（或有意留空由 TME 现场找人）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每日一词已设置，演讲者已了解词义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幻灯片已生成并保存到笔记本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已与 SAA 确认当晚由谁负责发布和唱票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全部打勾后，你就可以进入阶段三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4A04C"/>
                </a:solidFill>
                <a:latin typeface="Calibri"/>
              </a:rPr>
              <a:t>PHASE 2  ·  阶段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接待签到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T-0  18:30  ·  由 SAA 主导 — 你只需保持畅通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2.1  ·  步骤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接待与签到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SAA 在门口接待；你只需确认会议已就绪、可以发布。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路由</a:t>
            </a:r>
            <a:r>
              <a:rPr sz="1500">
                <a:solidFill>
                  <a:srgbClr val="2C2C2C"/>
                </a:solidFill>
                <a:latin typeface="Calibri"/>
              </a:rPr>
              <a:t> — /roster — SAA 在宾客和会员到达时录入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票种</a:t>
            </a:r>
            <a:r>
              <a:rPr sz="1500">
                <a:solidFill>
                  <a:srgbClr val="2C2C2C"/>
                </a:solidFill>
                <a:latin typeface="Calibri"/>
              </a:rPr>
              <a:t> — Early-bird / Walk-in / Officer — 顺序号自动计算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实时 KPI</a:t>
            </a:r>
            <a:r>
              <a:rPr sz="1500">
                <a:solidFill>
                  <a:srgbClr val="2C2C2C"/>
                </a:solidFill>
                <a:latin typeface="Calibri"/>
              </a:rPr>
              <a:t> — 顶部显示总出席人数和收入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你的任务</a:t>
            </a:r>
            <a:r>
              <a:rPr sz="1500">
                <a:solidFill>
                  <a:srgbClr val="2C2C2C"/>
                </a:solidFill>
                <a:latin typeface="Calibri"/>
              </a:rPr>
              <a:t> — 保持畅通。在 SAA 准备好之前不要发布/启动会议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临时编辑</a:t>
            </a:r>
            <a:r>
              <a:rPr sz="1500">
                <a:solidFill>
                  <a:srgbClr val="2C2C2C"/>
                </a:solidFill>
                <a:latin typeface="Calibri"/>
              </a:rPr>
              <a:t> — 会议进行中可临时添加即兴演讲者或花名册条目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/roster — SAA 的签到工具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4A04C"/>
                </a:solidFill>
                <a:latin typeface="Calibri"/>
              </a:rPr>
              <a:t>PHASE 3  ·  阶段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现场会议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T-0  19:00–21:00  ·  状态按钮是你唯一的控制入口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3.1  ·  步骤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发布并启动会议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两次点击：Publish（unpublished → not started），然后 Start（not started → running）。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Publish</a:t>
            </a:r>
            <a:r>
              <a:rPr sz="1500">
                <a:solidFill>
                  <a:srgbClr val="2C2C2C"/>
                </a:solidFill>
                <a:latin typeface="Calibri"/>
              </a:rPr>
              <a:t> — 点击状态组；状态切换为 Not Started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等待 18:55</a:t>
            </a:r>
            <a:r>
              <a:rPr sz="1500">
                <a:solidFill>
                  <a:srgbClr val="2C2C2C"/>
                </a:solidFill>
                <a:latin typeface="Calibri"/>
              </a:rPr>
              <a:t> — 在正式开场前 5 分钟启动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点击 Start</a:t>
            </a:r>
            <a:r>
              <a:rPr sz="1500">
                <a:solidFill>
                  <a:srgbClr val="2C2C2C"/>
                </a:solidFill>
                <a:latin typeface="Calibri"/>
              </a:rPr>
              <a:t> — Start_Time 设为当前时间；状态切换为 Running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投票启用</a:t>
            </a:r>
            <a:r>
              <a:rPr sz="1500">
                <a:solidFill>
                  <a:srgbClr val="2C2C2C"/>
                </a:solidFill>
                <a:latin typeface="Calibri"/>
              </a:rPr>
              <a:t> — 会员可在 /voting 提交选票；SAA 实时观察票数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即时编辑</a:t>
            </a:r>
            <a:r>
              <a:rPr sz="1500">
                <a:solidFill>
                  <a:srgbClr val="2C2C2C"/>
                </a:solidFill>
                <a:latin typeface="Calibri"/>
              </a:rPr>
              <a:t> — 会议中可编辑负责人、添加环节、添加即兴演讲者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gend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状态组：Publish → Start → Stop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3.2  ·  步骤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应对现场临时变更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常见请求与一分钟内的应对方式。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添加即兴演讲者</a:t>
            </a:r>
            <a:r>
              <a:rPr sz="1600">
                <a:solidFill>
                  <a:srgbClr val="2C2C2C"/>
                </a:solidFill>
                <a:latin typeface="Calibri"/>
              </a:rPr>
              <a:t> — 点击该即兴环节的负责人单元格，选择该会员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替换演讲者</a:t>
            </a:r>
            <a:r>
              <a:rPr sz="1600">
                <a:solidFill>
                  <a:srgbClr val="2C2C2C"/>
                </a:solidFill>
                <a:latin typeface="Calibri"/>
              </a:rPr>
              <a:t> — 点击负责人单元格，清除原负责人，选择新负责人 — 无需刷新页面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临时新增即兴环节</a:t>
            </a:r>
            <a:r>
              <a:rPr sz="1600">
                <a:solidFill>
                  <a:srgbClr val="2C2C2C"/>
                </a:solidFill>
                <a:latin typeface="Calibri"/>
              </a:rPr>
              <a:t> — 使用 Add Session 控件；如需调整顺序可拖动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忘记分配评估人</a:t>
            </a:r>
            <a:r>
              <a:rPr sz="1600">
                <a:solidFill>
                  <a:srgbClr val="2C2C2C"/>
                </a:solidFill>
                <a:latin typeface="Calibri"/>
              </a:rPr>
              <a:t> — 与负责人编辑流程相同 — 从联系人列表中选择即可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所有编辑</a:t>
            </a:r>
            <a:r>
              <a:rPr sz="1600">
                <a:solidFill>
                  <a:srgbClr val="2C2C2C"/>
                </a:solidFill>
                <a:latin typeface="Calibri"/>
              </a:rPr>
              <a:t> — 通过 POST /agenda/update 一次往返完成，原子化校验和持久化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3.3  ·  步骤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结束会议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点击 Stop。Memory Maker 封存会议并自动执行收尾工作。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点击 Stop</a:t>
            </a:r>
            <a:r>
              <a:rPr sz="1500">
                <a:solidFill>
                  <a:srgbClr val="2C2C2C"/>
                </a:solidFill>
                <a:latin typeface="Calibri"/>
              </a:rPr>
              <a:t> — 状态切换为 Finished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唱票</a:t>
            </a:r>
            <a:r>
              <a:rPr sz="1500">
                <a:solidFill>
                  <a:srgbClr val="2C2C2C"/>
                </a:solidFill>
                <a:latin typeface="Calibri"/>
              </a:rPr>
              <a:t> — 获奖者写入投票记录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清理候补名单</a:t>
            </a:r>
            <a:r>
              <a:rPr sz="1500">
                <a:solidFill>
                  <a:srgbClr val="2C2C2C"/>
                </a:solidFill>
                <a:latin typeface="Calibri"/>
              </a:rPr>
              <a:t> — 该会议的所有候补条目被删除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Planner 状态同步</a:t>
            </a:r>
            <a:r>
              <a:rPr sz="1500">
                <a:solidFill>
                  <a:srgbClr val="2C2C2C"/>
                </a:solidFill>
                <a:latin typeface="Calibri"/>
              </a:rPr>
              <a:t> — booked → completed,  waitlist → obsolete,  draft 保持不变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项目自动完成</a:t>
            </a:r>
            <a:r>
              <a:rPr sz="1500">
                <a:solidFill>
                  <a:srgbClr val="2C2C2C"/>
                </a:solidFill>
                <a:latin typeface="Calibri"/>
              </a:rPr>
              <a:t> — 所有 session log 标记为 Completed，元数据同步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/voting — 会议停止时自动唱票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4A04C"/>
                </a:solidFill>
                <a:latin typeface="Calibri"/>
              </a:rPr>
              <a:t>PHASE 4  ·  阶段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收尾与记录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T+0 至 T+1  ·  确认唱票、记录演讲、归档会议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4.1  ·  步骤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确认投票结果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SAA 公布结果并运行抽奖；你负责核对数据。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路由</a:t>
            </a:r>
            <a:r>
              <a:rPr sz="1500">
                <a:solidFill>
                  <a:srgbClr val="2C2C2C"/>
                </a:solidFill>
                <a:latin typeface="Calibri"/>
              </a:rPr>
              <a:t> — /voting — 最终票数与获奖者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NPS</a:t>
            </a:r>
            <a:r>
              <a:rPr sz="1500">
                <a:solidFill>
                  <a:srgbClr val="2C2C2C"/>
                </a:solidFill>
                <a:latin typeface="Calibri"/>
              </a:rPr>
              <a:t> — /voting_nps — 俱乐部层面的满意度趋势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SAA 核对名单</a:t>
            </a:r>
            <a:r>
              <a:rPr sz="1500">
                <a:solidFill>
                  <a:srgbClr val="2C2C2C"/>
                </a:solidFill>
                <a:latin typeface="Calibri"/>
              </a:rPr>
              <a:t> — 确认抽奖对象正确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如发现异常</a:t>
            </a:r>
            <a:r>
              <a:rPr sz="1500">
                <a:solidFill>
                  <a:srgbClr val="2C2C2C"/>
                </a:solidFill>
                <a:latin typeface="Calibri"/>
              </a:rPr>
              <a:t> — 请勿直接编辑选票 — 通过 /issues 提交问题单以保留审计轨迹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/voting — Stop 后的最终票数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4.2  ·  步骤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更新媒体链接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关联会议录屏，方便会员日后回看。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回到 /agenda</a:t>
            </a:r>
            <a:r>
              <a:rPr sz="1500">
                <a:solidFill>
                  <a:srgbClr val="2C2C2C"/>
                </a:solidFill>
                <a:latin typeface="Calibri"/>
              </a:rPr>
              <a:t> — 在会议头部编辑 Media URL 字段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保存</a:t>
            </a:r>
            <a:r>
              <a:rPr sz="1500">
                <a:solidFill>
                  <a:srgbClr val="2C2C2C"/>
                </a:solidFill>
                <a:latin typeface="Calibri"/>
              </a:rPr>
              <a:t> — 录屏链接已与会议记录关联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出现位置</a:t>
            </a:r>
            <a:r>
              <a:rPr sz="1500">
                <a:solidFill>
                  <a:srgbClr val="2C2C2C"/>
                </a:solidFill>
                <a:latin typeface="Calibri"/>
              </a:rPr>
              <a:t> — 会员可在 Planner 和会议档案中查看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/contacts — 复核每位演讲者的记录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4.3  ·  步骤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复核演讲记录与 Pathways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自动完成通常已处理；只需核对几个关键点。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/contacts</a:t>
            </a:r>
            <a:r>
              <a:rPr sz="1500">
                <a:solidFill>
                  <a:srgbClr val="2C2C2C"/>
                </a:solidFill>
                <a:latin typeface="Calibri"/>
              </a:rPr>
              <a:t> — 确认每位演讲者的项目和级别记录正确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自动完成</a:t>
            </a:r>
            <a:r>
              <a:rPr sz="1500">
                <a:solidFill>
                  <a:srgbClr val="2C2C2C"/>
                </a:solidFill>
                <a:latin typeface="Calibri"/>
              </a:rPr>
              <a:t> — 会议停止时项目状态已切换为 Completed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如项目有误</a:t>
            </a:r>
            <a:r>
              <a:rPr sz="1500">
                <a:solidFill>
                  <a:srgbClr val="2C2C2C"/>
                </a:solidFill>
                <a:latin typeface="Calibri"/>
              </a:rPr>
              <a:t> — 通过 /speech_logs 修正并重新保存 — 元数据会重新同步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Pathways 进度</a:t>
            </a:r>
            <a:r>
              <a:rPr sz="1500">
                <a:solidFill>
                  <a:srgbClr val="2C2C2C"/>
                </a:solidFill>
                <a:latin typeface="Calibri"/>
              </a:rPr>
              <a:t> — 访问 /pathway_library 确认已选路径；级别进度自动递增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常见 Bug</a:t>
            </a:r>
            <a:r>
              <a:rPr sz="1500">
                <a:solidFill>
                  <a:srgbClr val="2C2C2C"/>
                </a:solidFill>
                <a:latin typeface="Calibri"/>
              </a:rPr>
              <a:t> — 通用占位项目 (ProjectID.GENERIC) 会阻止级别递增 — 替换为真实项目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thway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Pathways Library — 级别跟踪的项目目录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4.4  ·  步骤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成就、归档与下一场规划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可选的收尾步骤，以及向下一周期的交接。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成就</a:t>
            </a:r>
            <a:r>
              <a:rPr sz="1600">
                <a:solidFill>
                  <a:srgbClr val="2C2C2C"/>
                </a:solidFill>
                <a:latin typeface="Calibri"/>
              </a:rPr>
              <a:t> — 如俱乐部使用 /achievements，授予新徽章（例如「首次 Ice Breaker」）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归档或删除</a:t>
            </a:r>
            <a:r>
              <a:rPr sz="1600">
                <a:solidFill>
                  <a:srgbClr val="2C2C2C"/>
                </a:solidFill>
                <a:latin typeface="Calibri"/>
              </a:rPr>
              <a:t> — 默认保留已结束会议在档案中；或点击 Delete 硬删除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删除所需权限</a:t>
            </a:r>
            <a:r>
              <a:rPr sz="1600">
                <a:solidFill>
                  <a:srgbClr val="2C2C2C"/>
                </a:solidFill>
                <a:latin typeface="Calibri"/>
              </a:rPr>
              <a:t> — MEETING_CREATE；不可撤销 — 选票、花名册、候补、Planner 条目一并删除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规划下一场</a:t>
            </a:r>
            <a:r>
              <a:rPr sz="1600">
                <a:solidFill>
                  <a:srgbClr val="2C2C2C"/>
                </a:solidFill>
                <a:latin typeface="Calibri"/>
              </a:rPr>
              <a:t> — 如本次会议设立了新先例，更新模板和设置（参见 template-manager-plan.md）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向下一任 VPE 交接</a:t>
            </a:r>
            <a:r>
              <a:rPr sz="1600">
                <a:solidFill>
                  <a:srgbClr val="2C2C2C"/>
                </a:solidFill>
                <a:latin typeface="Calibri"/>
              </a:rPr>
              <a:t> — 在任期交接前说明自定义环节、常见问题等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  ·  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会议状态流转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单向流转。如需重做一场会议，请新建。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2691" y="2926080"/>
            <a:ext cx="2194560" cy="1005840"/>
          </a:xfrm>
          <a:prstGeom prst="rect">
            <a:avLst/>
          </a:prstGeom>
          <a:solidFill>
            <a:srgbClr val="8B1A1A"/>
          </a:solidFill>
          <a:ln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2691" y="292608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Unpublished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9942" y="2926080"/>
            <a:ext cx="2194560" cy="1005840"/>
          </a:xfrm>
          <a:prstGeom prst="rect">
            <a:avLst/>
          </a:prstGeom>
          <a:solidFill>
            <a:srgbClr val="D4A04C"/>
          </a:solidFill>
          <a:ln>
            <a:solidFill>
              <a:srgbClr val="D4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9942" y="292608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Not Started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37193" y="2926080"/>
            <a:ext cx="2194560" cy="1005840"/>
          </a:xfrm>
          <a:prstGeom prst="rect">
            <a:avLst/>
          </a:prstGeom>
          <a:solidFill>
            <a:srgbClr val="5A1111"/>
          </a:solidFill>
          <a:ln>
            <a:solidFill>
              <a:srgbClr val="5A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193" y="292608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Running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14444" y="2926080"/>
            <a:ext cx="2194560" cy="1005840"/>
          </a:xfrm>
          <a:prstGeom prst="rect">
            <a:avLst/>
          </a:prstGeom>
          <a:solidFill>
            <a:srgbClr val="1E407A"/>
          </a:solidFill>
          <a:ln>
            <a:solidFill>
              <a:srgbClr val="1E4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14444" y="292608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Finished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77251" y="2423160"/>
            <a:ext cx="6826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Calibri"/>
              </a:rPr>
              <a:t>Publish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54502" y="2423160"/>
            <a:ext cx="6826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Calibri"/>
              </a:rPr>
              <a:t>Start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31753" y="2423160"/>
            <a:ext cx="6826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Calibri"/>
              </a:rPr>
              <a:t>Stop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solidFill>
            <a:srgbClr val="FAFAFA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1">
                <a:solidFill>
                  <a:srgbClr val="2C2C2C"/>
                </a:solidFill>
                <a:latin typeface="Calibri"/>
              </a:rPr>
              <a:t>从 Finished → Delete（需 MEETING_CREATE 权限）。硬删除：选票、花名册、候补名单、Planner 条目和 session log 全部删除。不可撤销。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停止时的自动操作：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唱票完成  ·  候补名单清空  ·  Planner 中 booked→completed  ·  项目自动完成  ·  联系人元数据重新同步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  ·  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权限速查表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本教程默认标准 VPE 角色拥有以下权限。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91672" cy="41148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2024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所需权限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091672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创建会议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33172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MEETING_CREATE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编辑议程（环节、每日一词、项目）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74320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MEETING_MANAGE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54680"/>
            <a:ext cx="11091672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分配 / 移除角色负责人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15468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MEETING_MANAGE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发布 / 启动 / 结束会议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661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MEETING_MANAGE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77640"/>
            <a:ext cx="11091672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97764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删除已结束的会议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97764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MEETING_CREATE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3891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查看所有会议（含未发布）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38912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MEETING_VIEW_ALL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00600"/>
            <a:ext cx="11091672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生成幻灯片 / 导出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80060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MEETING_MANAGE + 模块 'Data/Slides Export'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如果按钮是灰色，说明缺少对应权限。请联系 ClubAdmin 或在 设置 → 用户 中检查。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  ·  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常见坑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前人踩过的雷。提前规避。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087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过早发布</a:t>
            </a:r>
            <a:r>
              <a:rPr sz="1500">
                <a:solidFill>
                  <a:srgbClr val="2C2C2C"/>
                </a:solidFill>
                <a:latin typeface="Calibri"/>
              </a:rPr>
              <a:t> — 一旦发布，会员即可预订角色。请先完成结构定稿。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绑定错误的 Pathways 项目</a:t>
            </a:r>
            <a:r>
              <a:rPr sz="1500">
                <a:solidFill>
                  <a:srgbClr val="2C2C2C"/>
                </a:solidFill>
                <a:latin typeface="Calibri"/>
              </a:rPr>
              <a:t> — 错误的项目会污染演讲者记录。如不确定，请询问，不要猜测。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误点 Stop</a:t>
            </a:r>
            <a:r>
              <a:rPr sz="1500">
                <a:solidFill>
                  <a:srgbClr val="2C2C2C"/>
                </a:solidFill>
                <a:latin typeface="Calibri"/>
              </a:rPr>
              <a:t> — 会议会被封存。唯一恢复路径是克隆会议或从备份恢复。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忘记分配评估人</a:t>
            </a:r>
            <a:r>
              <a:rPr sz="1500">
                <a:solidFill>
                  <a:srgbClr val="2C2C2C"/>
                </a:solidFill>
                <a:latin typeface="Calibri"/>
              </a:rPr>
              <a:t> — 会前补上。评估人就是评估类环节的负责人。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发布后修改日期</a:t>
            </a:r>
            <a:r>
              <a:rPr sz="1500">
                <a:solidFill>
                  <a:srgbClr val="2C2C2C"/>
                </a:solidFill>
                <a:latin typeface="Calibri"/>
              </a:rPr>
              <a:t> — 会议编号自动重命名；poster 文件也会重命名。修改后请核对两者。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备稿演讲使用了通用项目</a:t>
            </a:r>
            <a:r>
              <a:rPr sz="1500">
                <a:solidFill>
                  <a:srgbClr val="2C2C2C"/>
                </a:solidFill>
                <a:latin typeface="Calibri"/>
              </a:rPr>
              <a:t> — ProjectID.GENERIC 会阻止级别递增。替换为真实项目并重新保存。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  ·  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术语表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本教程涉及的术语。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087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VPE</a:t>
            </a:r>
            <a:r>
              <a:rPr sz="1500">
                <a:solidFill>
                  <a:srgbClr val="2C2C2C"/>
                </a:solidFill>
                <a:latin typeface="Calibri"/>
              </a:rPr>
              <a:t> — 教育副主席 — 负责会议内容与 Pathways 进度跟踪。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SAA</a:t>
            </a:r>
            <a:r>
              <a:rPr sz="1500">
                <a:solidFill>
                  <a:srgbClr val="2C2C2C"/>
                </a:solidFill>
                <a:latin typeface="Calibri"/>
              </a:rPr>
              <a:t> — 内务副主席 — 负责场地、签到、唱票与抽奖。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TME</a:t>
            </a:r>
            <a:r>
              <a:rPr sz="1500">
                <a:solidFill>
                  <a:srgbClr val="2C2C2C"/>
                </a:solidFill>
                <a:latin typeface="Calibri"/>
              </a:rPr>
              <a:t> — 当晚主持人 (Toastmaster of the Evening) — 主理现场会议。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WOD</a:t>
            </a:r>
            <a:r>
              <a:rPr sz="1500">
                <a:solidFill>
                  <a:srgbClr val="2C2C2C"/>
                </a:solidFill>
                <a:latin typeface="Calibri"/>
              </a:rPr>
              <a:t> — 每日一词 (Word of the Day) — 传统上由 Memory Maker 负责；演讲者与 TME 使用。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Pathway</a:t>
            </a:r>
            <a:r>
              <a:rPr sz="1500">
                <a:solidFill>
                  <a:srgbClr val="2C2C2C"/>
                </a:solidFill>
                <a:latin typeface="Calibri"/>
              </a:rPr>
              <a:t> — 头马学习路径，由跨多个级别的项目组成。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Session Log</a:t>
            </a:r>
            <a:r>
              <a:rPr sz="1500">
                <a:solidFill>
                  <a:srgbClr val="2C2C2C"/>
                </a:solidFill>
                <a:latin typeface="Calibri"/>
              </a:rPr>
              <a:t> — 议程表中的一行 — 每个议程项对应一行（TME、即兴、演讲、评估等）。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Planner</a:t>
            </a:r>
            <a:r>
              <a:rPr sz="1500">
                <a:solidFill>
                  <a:srgbClr val="2C2C2C"/>
                </a:solidFill>
                <a:latin typeface="Calibri"/>
              </a:rPr>
              <a:t> — 会员的个人计划：在哪场会议中完成哪个项目。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Waitlist</a:t>
            </a:r>
            <a:r>
              <a:rPr sz="1500">
                <a:solidFill>
                  <a:srgbClr val="2C2C2C"/>
                </a:solidFill>
                <a:latin typeface="Calibri"/>
              </a:rPr>
              <a:t> — 系统自动管理的队列；已满槽位的候选人在原负责人取消时自动提升。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  ·  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延伸阅读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本仓库中的相关文档。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91672" cy="384048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SAA — 清单视图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docs/SAA_MemMaker_User_Manual.md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11091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0428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SAA — 网格视图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304288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docs/SAA_User_Manual_Grid.md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88336"/>
            <a:ext cx="11091672" cy="384048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688336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所有干部速查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688336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docs/getting_started.md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72384"/>
            <a:ext cx="11091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072384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Pathways 深入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072384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 (搜索 'pathways')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56432"/>
            <a:ext cx="11091672" cy="384048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45643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模板编辑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456432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docs/template-manager-plan.md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0480"/>
            <a:ext cx="11091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投票 / 实时更新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40480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docs/MAILBOX_REALTIME_DESIGN.md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24528"/>
            <a:ext cx="11091672" cy="384048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22452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用户 / 联系人模型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224528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docs/CONTACT_USER_CLUB_MODEL.md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08576"/>
            <a:ext cx="11091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608576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本教程的源文档（中文）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608576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docs/VPE_MemMaker_Tutorial.zh-CN.md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246888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D4A04C"/>
                </a:solidFill>
                <a:latin typeface="Calibri"/>
              </a:rPr>
              <a:t>准备就绪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自信地管理会议周期。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周密规划、发布一次、保持冷静、让 Memory Maker 在结束时自动完成台账。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48640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C0B090"/>
                </a:solidFill>
                <a:latin typeface="Calibri"/>
              </a:rPr>
              <a:t>有问题？联系 ClubAdmin 或通过 /issues 提交。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1648</Words>
  <Application>Microsoft Macintosh PowerPoint</Application>
  <PresentationFormat>Widescreen</PresentationFormat>
  <Paragraphs>308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Wei, Kyle</cp:lastModifiedBy>
  <cp:revision>2</cp:revision>
  <dcterms:created xsi:type="dcterms:W3CDTF">2013-01-27T09:14:16Z</dcterms:created>
  <dcterms:modified xsi:type="dcterms:W3CDTF">2026-06-22T07:25:47Z</dcterms:modified>
  <cp:category/>
</cp:coreProperties>
</file>