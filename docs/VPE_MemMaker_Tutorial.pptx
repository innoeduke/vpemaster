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28016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9659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8B1A1A"/>
                </a:solidFill>
                <a:latin typeface="Calibri"/>
              </a:rPr>
              <a:t>VPE TUTORIAL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5A1111"/>
                </a:solidFill>
                <a:latin typeface="Calibri"/>
              </a:rPr>
              <a:t>Memory Maker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8328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2C2C2C"/>
                </a:solidFill>
                <a:latin typeface="Calibri"/>
              </a:rPr>
              <a:t>Managing a Full Meeting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6B6B"/>
                </a:solidFill>
                <a:latin typeface="Calibri"/>
              </a:rPr>
              <a:t>A step-by-step walkthrough for the Vice President Education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937760"/>
            <a:ext cx="22860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Generated 2026-06-22  ·  Memory Maker BETA  ·  For internal club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What this deck covers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853074400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Phase 1 — Pre-Meeting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4452772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Slides 4–11  ·  Create the meeting, build the agenda, open booking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853156696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51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Phase 2 — Reception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4453595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Slides 12–13 ·  SAA handles check-in, you stay reachable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853238992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Phase 3 — Live Meeting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4454418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Slides 14–17 ·  Publish → Start → react → Stop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85332128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97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Phase 4 — Wrap-Up &amp;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344552416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Slides 18–22 ·  Voting results, speech logs, Pathways, archive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5120640"/>
            <a:ext cx="502920" cy="502920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53403584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C2C2C"/>
                </a:solidFill>
                <a:latin typeface="Calibri"/>
              </a:rPr>
              <a:t>Reference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3445606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Slides 23–28 ·  Status flow, permissions, pitfalls, glossary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The four phases of a meeting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06040" cy="54864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Pre-Meeting
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8B1A1A"/>
                </a:solidFill>
                <a:latin typeface="Calibri"/>
              </a:rPr>
              <a:t>T-7 → T-1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Build the agenda
&amp; open booking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9272" y="1828800"/>
            <a:ext cx="26060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9272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560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Reception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36576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D4A04C"/>
                </a:solidFill>
                <a:latin typeface="Calibri"/>
              </a:rPr>
              <a:t>T-0  18:30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411480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SAA checks in
guests &amp; members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9904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9904" y="1828800"/>
            <a:ext cx="2606040" cy="54864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2560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Live Meeting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9904" y="36576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5A1111"/>
                </a:solidFill>
                <a:latin typeface="Calibri"/>
              </a:rPr>
              <a:t>T-0  19:00–21:00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9904" y="411480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Publish → Start
→ react → Stop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0536" y="1828800"/>
            <a:ext cx="2606040" cy="3840480"/>
          </a:xfrm>
          <a:prstGeom prst="rect">
            <a:avLst/>
          </a:prstGeom>
          <a:solidFill>
            <a:srgbClr val="FAFAFA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60536" y="1828800"/>
            <a:ext cx="2606040" cy="548640"/>
          </a:xfrm>
          <a:prstGeom prst="rect">
            <a:avLst/>
          </a:prstGeom>
          <a:solidFill>
            <a:srgbClr val="1E4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0536" y="1874520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560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2C2C2C"/>
                </a:solidFill>
                <a:latin typeface="Calibri"/>
              </a:rPr>
              <a:t>Wrap-Up
&amp; Records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0536" y="365760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1E407A"/>
                </a:solidFill>
                <a:latin typeface="Calibri"/>
              </a:rPr>
              <a:t>T+0 → T+1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0536" y="4114800"/>
            <a:ext cx="2606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6B6B6B"/>
                </a:solidFill>
                <a:latin typeface="Calibri"/>
              </a:rPr>
              <a:t>Tally votes, log
speeches, archive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solidFill>
            <a:srgbClr val="F7F3EE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5A1111"/>
                </a:solidFill>
                <a:latin typeface="Calibri"/>
              </a:rPr>
              <a:t>→  The VPE owns Phase 1 &amp; Phase 3, supports Phase 4, stays reachable in Phase 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Pre-Meeting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T-7 to T-1 day  ·  The VPE's main work block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Open the Agenda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Memory Maker's home base for everything meeting-related.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Route</a:t>
            </a:r>
            <a:r>
              <a:rPr sz="1500">
                <a:solidFill>
                  <a:srgbClr val="2C2C2C"/>
                </a:solidFill>
                <a:latin typeface="Calibri"/>
              </a:rPr>
              <a:t> — /agenda — also reachable from the top nav under Meetings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Meeting selector</a:t>
            </a:r>
            <a:r>
              <a:rPr sz="1500">
                <a:solidFill>
                  <a:srgbClr val="2C2C2C"/>
                </a:solidFill>
                <a:latin typeface="Calibri"/>
              </a:rPr>
              <a:t> — Use the dropdown to pick the meeting you want to work 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Status group</a:t>
            </a:r>
            <a:r>
              <a:rPr sz="1500">
                <a:solidFill>
                  <a:srgbClr val="2C2C2C"/>
                </a:solidFill>
                <a:latin typeface="Calibri"/>
              </a:rPr>
              <a:t> — Shows the current meeting's status: Unpublished / Not Started / Running / Finished / Cancelled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Agenda table</a:t>
            </a:r>
            <a:r>
              <a:rPr sz="1500">
                <a:solidFill>
                  <a:srgbClr val="2C2C2C"/>
                </a:solidFill>
                <a:latin typeface="Calibri"/>
              </a:rPr>
              <a:t> — Lists every session row with time, role, owner, project, and validation flags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The /agenda page — meeting #982 (Aug 04, 2026), status: Not Started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Create a meeting from a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Start a new meeting by filling in the date, theme, and template.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Click New</a:t>
            </a:r>
            <a:r>
              <a:rPr sz="1500">
                <a:solidFill>
                  <a:srgbClr val="2C2C2C"/>
                </a:solidFill>
                <a:latin typeface="Calibri"/>
              </a:rPr>
              <a:t> — Top of the agenda editor, or via the top-right menu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Fill the form</a:t>
            </a:r>
            <a:r>
              <a:rPr sz="1500">
                <a:solidFill>
                  <a:srgbClr val="2C2C2C"/>
                </a:solidFill>
                <a:latin typeface="Calibri"/>
              </a:rPr>
              <a:t> — Date, meeting number, title/theme, subtitle, type, media URL, template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Template file</a:t>
            </a:r>
            <a:r>
              <a:rPr sz="1500">
                <a:solidFill>
                  <a:srgbClr val="2C2C2C"/>
                </a:solidFill>
                <a:latin typeface="Calibri"/>
              </a:rPr>
              <a:t> — Determines the default set of agenda items (Standard Club Meeting, etc.)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Save</a:t>
            </a:r>
            <a:r>
              <a:rPr sz="1500">
                <a:solidFill>
                  <a:srgbClr val="2C2C2C"/>
                </a:solidFill>
                <a:latin typeface="Calibri"/>
              </a:rPr>
              <a:t> — POST /agenda/create — requires MEETING_CREATE permission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ttings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Settings → Modules — make sure 'Data/Slides Export' is on before generating slides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Build the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Edit sessions inline: time, role, project, and meeting-level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Add/remove a session</a:t>
            </a:r>
            <a:r>
              <a:rPr sz="1500">
                <a:solidFill>
                  <a:srgbClr val="2C2C2C"/>
                </a:solidFill>
                <a:latin typeface="Calibri"/>
              </a:rPr>
              <a:t> — Use the row controls at the bottom of the table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Reorder</a:t>
            </a:r>
            <a:r>
              <a:rPr sz="1500">
                <a:solidFill>
                  <a:srgbClr val="2C2C2C"/>
                </a:solidFill>
                <a:latin typeface="Calibri"/>
              </a:rPr>
              <a:t> — Drag the row handle, or use the up/down arrows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Edit start time</a:t>
            </a:r>
            <a:r>
              <a:rPr sz="1500">
                <a:solidFill>
                  <a:srgbClr val="2C2C2C"/>
                </a:solidFill>
                <a:latin typeface="Calibri"/>
              </a:rPr>
              <a:t> — Click the time cell, type 24h HH:MM — overlaps are flagged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Word of the Day</a:t>
            </a:r>
            <a:r>
              <a:rPr sz="1500">
                <a:solidFill>
                  <a:srgbClr val="2C2C2C"/>
                </a:solidFill>
                <a:latin typeface="Calibri"/>
              </a:rPr>
              <a:t> — Set in the top-of-page wod-display block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GE Style</a:t>
            </a:r>
            <a:r>
              <a:rPr sz="1500">
                <a:solidFill>
                  <a:srgbClr val="2C2C2C"/>
                </a:solidFill>
                <a:latin typeface="Calibri"/>
              </a:rPr>
              <a:t> — The ge_mode dropdown controls the General Evaluator's report format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Red badges</a:t>
            </a:r>
            <a:r>
              <a:rPr sz="1500">
                <a:solidFill>
                  <a:srgbClr val="2C2C2C"/>
                </a:solidFill>
                <a:latin typeface="Calibri"/>
              </a:rPr>
              <a:t> — Indicate validation problems — resolve before publishing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The agenda table — session rows are editable inline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Add project info for prepared speeches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Prepared speech slots are flagged Valid_for_Project = true and need a Pathways project.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Click the project cell</a:t>
            </a:r>
            <a:r>
              <a:rPr sz="1500">
                <a:solidFill>
                  <a:srgbClr val="2C2C2C"/>
                </a:solidFill>
                <a:latin typeface="Calibri"/>
              </a:rPr>
              <a:t> — In the row of the prepared-speech session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Pick the pathway</a:t>
            </a:r>
            <a:r>
              <a:rPr sz="1500">
                <a:solidFill>
                  <a:srgbClr val="2C2C2C"/>
                </a:solidFill>
                <a:latin typeface="Calibri"/>
              </a:rPr>
              <a:t> — e.g. Dynamic Leadership, Presentation Mastery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Pick the project</a:t>
            </a:r>
            <a:r>
              <a:rPr sz="1500">
                <a:solidFill>
                  <a:srgbClr val="2C2C2C"/>
                </a:solidFill>
                <a:latin typeface="Calibri"/>
              </a:rPr>
              <a:t> — e.g. Level 1 — Ice Breaker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Add an optional title</a:t>
            </a:r>
            <a:r>
              <a:rPr sz="1500">
                <a:solidFill>
                  <a:srgbClr val="2C2C2C"/>
                </a:solidFill>
                <a:latin typeface="Calibri"/>
              </a:rPr>
              <a:t> — Used on slides and in speech records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If undecided</a:t>
            </a:r>
            <a:r>
              <a:rPr sz="1500">
                <a:solidFill>
                  <a:srgbClr val="2C2C2C"/>
                </a:solidFill>
                <a:latin typeface="Calibri"/>
              </a:rPr>
              <a:t> — Leave blank — update before the meeting is Started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thway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Pathways Library — the catalog of projects you assign to speech slots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Open role booking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Publishing unlocks role booking for all members.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Click Publish</a:t>
            </a:r>
            <a:r>
              <a:rPr sz="1500">
                <a:solidFill>
                  <a:srgbClr val="2C2C2C"/>
                </a:solidFill>
                <a:latin typeface="Calibri"/>
              </a:rPr>
              <a:t> — In the agenda page's status group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Confirm the prompt</a:t>
            </a:r>
            <a:r>
              <a:rPr sz="1500">
                <a:solidFill>
                  <a:srgbClr val="2C2C2C"/>
                </a:solidFill>
                <a:latin typeface="Calibri"/>
              </a:rPr>
              <a:t> — Memory Maker reminds you that booking opens to all members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Status flips</a:t>
            </a:r>
            <a:r>
              <a:rPr sz="1500">
                <a:solidFill>
                  <a:srgbClr val="2C2C2C"/>
                </a:solidFill>
                <a:latin typeface="Calibri"/>
              </a:rPr>
              <a:t> — Unpublished → Not Started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Members see /booking</a:t>
            </a:r>
            <a:r>
              <a:rPr sz="1500">
                <a:solidFill>
                  <a:srgbClr val="2C2C2C"/>
                </a:solidFill>
                <a:latin typeface="Calibri"/>
              </a:rPr>
              <a:t> — Self-booking and waitlists become available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Tip</a:t>
            </a:r>
            <a:r>
              <a:rPr sz="1500">
                <a:solidFill>
                  <a:srgbClr val="2C2C2C"/>
                </a:solidFill>
                <a:latin typeface="Calibri"/>
              </a:rPr>
              <a:t> — Once published, structural changes to sessions are harder — finalise 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Status group on the agenda — click Publish to open booking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Book or assign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Members self-book; you backfill empty slots and assign evaluators.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Member self-booking</a:t>
            </a:r>
            <a:r>
              <a:rPr sz="1500">
                <a:solidFill>
                  <a:srgbClr val="2C2C2C"/>
                </a:solidFill>
                <a:latin typeface="Calibri"/>
              </a:rPr>
              <a:t> — Members visit /booking, pick a meeting, click a slot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Waitlists</a:t>
            </a:r>
            <a:r>
              <a:rPr sz="1500">
                <a:solidFill>
                  <a:srgbClr val="2C2C2C"/>
                </a:solidFill>
                <a:latin typeface="Calibri"/>
              </a:rPr>
              <a:t> — Full slots show 'Join Waitlist' — auto-promote when owner cancels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Officer assignment</a:t>
            </a:r>
            <a:r>
              <a:rPr sz="1500">
                <a:solidFill>
                  <a:srgbClr val="2C2C2C"/>
                </a:solidFill>
                <a:latin typeface="Calibri"/>
              </a:rPr>
              <a:t> — Click the owner cell on the agenda page and pick a contact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Backfill 24–48h before</a:t>
            </a:r>
            <a:r>
              <a:rPr sz="1500">
                <a:solidFill>
                  <a:srgbClr val="2C2C2C"/>
                </a:solidFill>
                <a:latin typeface="Calibri"/>
              </a:rPr>
              <a:t> — Fill any empty required roles; assign evaluators to speeches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Tip</a:t>
            </a:r>
            <a:r>
              <a:rPr sz="1500">
                <a:solidFill>
                  <a:srgbClr val="2C2C2C"/>
                </a:solidFill>
                <a:latin typeface="Calibri"/>
              </a:rPr>
              <a:t> — Read the Planner page 1–2 days before — it shows members' intentions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oo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/booking — the Booking Assistant as members see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1.7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Day-before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Run through this list the day before the meeting.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Agenda has no red validation badges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Every prepared speech has a Pathways project assigned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Every required role has an owner (or is intentionally left empty for the TME)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Word of the Day is set; the WOD speaker knows the definition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Slides have been generated and saved to the laptop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The SAA has confirmed who will publish and handle voting on the night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>
                <a:solidFill>
                  <a:srgbClr val="2C2C2C"/>
                </a:solidFill>
                <a:latin typeface="Calibri"/>
              </a:rPr>
              <a:t>If all green, you are ready for Phase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Reception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T-0  18:30  ·  Owned by the SAA — your job is to stay reachable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2.1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Reception &amp; check-in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The SAA runs the door; you confirm the meeting is ready to publish.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Route</a:t>
            </a:r>
            <a:r>
              <a:rPr sz="1500">
                <a:solidFill>
                  <a:srgbClr val="2C2C2C"/>
                </a:solidFill>
                <a:latin typeface="Calibri"/>
              </a:rPr>
              <a:t> — /roster — SAA adds guests and members as they arrive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Ticket types</a:t>
            </a:r>
            <a:r>
              <a:rPr sz="1500">
                <a:solidFill>
                  <a:srgbClr val="2C2C2C"/>
                </a:solidFill>
                <a:latin typeface="Calibri"/>
              </a:rPr>
              <a:t> — Early-bird / Walk-in / Officer — order number auto-calculates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Live KPI</a:t>
            </a:r>
            <a:r>
              <a:rPr sz="1500">
                <a:solidFill>
                  <a:srgbClr val="2C2C2C"/>
                </a:solidFill>
                <a:latin typeface="Calibri"/>
              </a:rPr>
              <a:t> — Total attendees and revenue shown at the top in real time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Your only task</a:t>
            </a:r>
            <a:r>
              <a:rPr sz="1500">
                <a:solidFill>
                  <a:srgbClr val="2C2C2C"/>
                </a:solidFill>
                <a:latin typeface="Calibri"/>
              </a:rPr>
              <a:t> — Stay reachable. Don't publish/start the meeting until the SAA is ready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Last-minute edits</a:t>
            </a:r>
            <a:r>
              <a:rPr sz="1500">
                <a:solidFill>
                  <a:srgbClr val="2C2C2C"/>
                </a:solidFill>
                <a:latin typeface="Calibri"/>
              </a:rPr>
              <a:t> — Adding a table topic speaker or roster entry mid-meeting is supported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/roster — the SAA's check-in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Live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T-0  19:00–21:00  ·  The status button is your only control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3.1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Publish and start the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Two clicks: Publish (unpublished → not started), then Start (not started → running).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Publish</a:t>
            </a:r>
            <a:r>
              <a:rPr sz="1500">
                <a:solidFill>
                  <a:srgbClr val="2C2C2C"/>
                </a:solidFill>
                <a:latin typeface="Calibri"/>
              </a:rPr>
              <a:t> — Click in the status group; status flips to Not Started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Wait for 6:55 PM</a:t>
            </a:r>
            <a:r>
              <a:rPr sz="1500">
                <a:solidFill>
                  <a:srgbClr val="2C2C2C"/>
                </a:solidFill>
                <a:latin typeface="Calibri"/>
              </a:rPr>
              <a:t> — Start the meeting 5 minutes before call-to-order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Click Start</a:t>
            </a:r>
            <a:r>
              <a:rPr sz="1500">
                <a:solidFill>
                  <a:srgbClr val="2C2C2C"/>
                </a:solidFill>
                <a:latin typeface="Calibri"/>
              </a:rPr>
              <a:t> — Sets Start_Time to now; status flips to Running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Voting enables</a:t>
            </a:r>
            <a:r>
              <a:rPr sz="1500">
                <a:solidFill>
                  <a:srgbClr val="2C2C2C"/>
                </a:solidFill>
                <a:latin typeface="Calibri"/>
              </a:rPr>
              <a:t> — Members can submit ballots at /voting; SAA watches live count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Reactions enabled</a:t>
            </a:r>
            <a:r>
              <a:rPr sz="1500">
                <a:solidFill>
                  <a:srgbClr val="2C2C2C"/>
                </a:solidFill>
                <a:latin typeface="Calibri"/>
              </a:rPr>
              <a:t> — You can edit owners, add sessions, and add table topic speakers on the fly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genda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Status group: Publish → Start → Stop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3.2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React to in-meeting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Common requests and how to handle each in under a minute.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Add a table topic speaker</a:t>
            </a:r>
            <a:r>
              <a:rPr sz="1600">
                <a:solidFill>
                  <a:srgbClr val="2C2C2C"/>
                </a:solidFill>
                <a:latin typeface="Calibri"/>
              </a:rPr>
              <a:t> — Click the owner cell of the TT session and pick the person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Swap a speaker</a:t>
            </a:r>
            <a:r>
              <a:rPr sz="1600">
                <a:solidFill>
                  <a:srgbClr val="2C2C2C"/>
                </a:solidFill>
                <a:latin typeface="Calibri"/>
              </a:rPr>
              <a:t> — Click the owner cell, clear the old, pick the new — no page reload needed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Add a TT session on the fly</a:t>
            </a:r>
            <a:r>
              <a:rPr sz="1600">
                <a:solidFill>
                  <a:srgbClr val="2C2C2C"/>
                </a:solidFill>
                <a:latin typeface="Calibri"/>
              </a:rPr>
              <a:t> — Use the Add Session control; drag to reorder if needed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Forgot an evaluator</a:t>
            </a:r>
            <a:r>
              <a:rPr sz="1600">
                <a:solidFill>
                  <a:srgbClr val="2C2C2C"/>
                </a:solidFill>
                <a:latin typeface="Calibri"/>
              </a:rPr>
              <a:t> — Same as owner-edit flow — just pick from the contact list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All edits via</a:t>
            </a:r>
            <a:r>
              <a:rPr sz="1600">
                <a:solidFill>
                  <a:srgbClr val="2C2C2C"/>
                </a:solidFill>
                <a:latin typeface="Calibri"/>
              </a:rPr>
              <a:t> — POST /agenda/update — one round trip, validated and persisted atomically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3.3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End the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Click Stop. Memory Maker seals the meeting and runs the post-meeting bookkeeping.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Click Stop</a:t>
            </a:r>
            <a:r>
              <a:rPr sz="1500">
                <a:solidFill>
                  <a:srgbClr val="2C2C2C"/>
                </a:solidFill>
                <a:latin typeface="Calibri"/>
              </a:rPr>
              <a:t> — Status flips to Finished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Vote tally</a:t>
            </a:r>
            <a:r>
              <a:rPr sz="1500">
                <a:solidFill>
                  <a:srgbClr val="2C2C2C"/>
                </a:solidFill>
                <a:latin typeface="Calibri"/>
              </a:rPr>
              <a:t> — Winners are written to the voting records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Waitlist cleanup</a:t>
            </a:r>
            <a:r>
              <a:rPr sz="1500">
                <a:solidFill>
                  <a:srgbClr val="2C2C2C"/>
                </a:solidFill>
                <a:latin typeface="Calibri"/>
              </a:rPr>
              <a:t> — All waitlist entries for this meeting are deleted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Planner sync</a:t>
            </a:r>
            <a:r>
              <a:rPr sz="1500">
                <a:solidFill>
                  <a:srgbClr val="2C2C2C"/>
                </a:solidFill>
                <a:latin typeface="Calibri"/>
              </a:rPr>
              <a:t> — booked → completed,  waitlist → obsolete,  draft stays draft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Project auto-complete</a:t>
            </a:r>
            <a:r>
              <a:rPr sz="1500">
                <a:solidFill>
                  <a:srgbClr val="2C2C2C"/>
                </a:solidFill>
                <a:latin typeface="Calibri"/>
              </a:rPr>
              <a:t> — Every project's session log is marked Completed and metadata synced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/voting — auto-tallied when the meeting stops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4A04C"/>
                </a:solidFill>
                <a:latin typeface="Calibri"/>
              </a:rPr>
              <a:t>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Wrap-Up &amp;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5488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T+0 to T+1  ·  Confirm votes, log speeches, archive the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Confirm voting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The SAA reads final results and runs the lucky draw; you verify the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Route</a:t>
            </a:r>
            <a:r>
              <a:rPr sz="1500">
                <a:solidFill>
                  <a:srgbClr val="2C2C2C"/>
                </a:solidFill>
                <a:latin typeface="Calibri"/>
              </a:rPr>
              <a:t> — /voting — final tallies and award winners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NPS</a:t>
            </a:r>
            <a:r>
              <a:rPr sz="1500">
                <a:solidFill>
                  <a:srgbClr val="2C2C2C"/>
                </a:solidFill>
                <a:latin typeface="Calibri"/>
              </a:rPr>
              <a:t> — /voting_nps — club-level satisfaction trend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SAA's verification list</a:t>
            </a:r>
            <a:r>
              <a:rPr sz="1500">
                <a:solidFill>
                  <a:srgbClr val="2C2C2C"/>
                </a:solidFill>
                <a:latin typeface="Calibri"/>
              </a:rPr>
              <a:t> — Confirms the right people got the right prizes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If something looks wrong</a:t>
            </a:r>
            <a:r>
              <a:rPr sz="1500">
                <a:solidFill>
                  <a:srgbClr val="2C2C2C"/>
                </a:solidFill>
                <a:latin typeface="Calibri"/>
              </a:rPr>
              <a:t> — Don't edit ballots directly — file an issue from /issues to preserve the audit trail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/voting — final tallies after Stop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Update the media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Attach the meeting recording so members can find it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Back on /agenda</a:t>
            </a:r>
            <a:r>
              <a:rPr sz="1500">
                <a:solidFill>
                  <a:srgbClr val="2C2C2C"/>
                </a:solidFill>
                <a:latin typeface="Calibri"/>
              </a:rPr>
              <a:t> — Edit the meeting's Media URL field in the header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Save</a:t>
            </a:r>
            <a:r>
              <a:rPr sz="1500">
                <a:solidFill>
                  <a:srgbClr val="2C2C2C"/>
                </a:solidFill>
                <a:latin typeface="Calibri"/>
              </a:rPr>
              <a:t> — The recording is now linked to the meeting record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Where it shows up</a:t>
            </a:r>
            <a:r>
              <a:rPr sz="1500">
                <a:solidFill>
                  <a:srgbClr val="2C2C2C"/>
                </a:solidFill>
                <a:latin typeface="Calibri"/>
              </a:rPr>
              <a:t> — Members see it on their Planner and in the meeting archive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/contacts — review each speaker's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Review speech logs and Pathways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Auto-completion usually does the work; verify a few key cases.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/contacts</a:t>
            </a:r>
            <a:r>
              <a:rPr sz="1500">
                <a:solidFill>
                  <a:srgbClr val="2C2C2C"/>
                </a:solidFill>
                <a:latin typeface="Calibri"/>
              </a:rPr>
              <a:t> — Confirm each speaker's project and level are recorded correctly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Auto-completion</a:t>
            </a:r>
            <a:r>
              <a:rPr sz="1500">
                <a:solidFill>
                  <a:srgbClr val="2C2C2C"/>
                </a:solidFill>
                <a:latin typeface="Calibri"/>
              </a:rPr>
              <a:t> — Project Status flipped to Completed when the meeting was stopped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If a project looks wrong</a:t>
            </a:r>
            <a:r>
              <a:rPr sz="1500">
                <a:solidFill>
                  <a:srgbClr val="2C2C2C"/>
                </a:solidFill>
                <a:latin typeface="Calibri"/>
              </a:rPr>
              <a:t> — Fix it via /speech_logs and re-save — metadata re-syncs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Pathways progress</a:t>
            </a:r>
            <a:r>
              <a:rPr sz="1500">
                <a:solidFill>
                  <a:srgbClr val="2C2C2C"/>
                </a:solidFill>
                <a:latin typeface="Calibri"/>
              </a:rPr>
              <a:t> — Visit /pathway_library to confirm a path is selected; level progress increments automatically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Common bug</a:t>
            </a:r>
            <a:r>
              <a:rPr sz="1500">
                <a:solidFill>
                  <a:srgbClr val="2C2C2C"/>
                </a:solidFill>
                <a:latin typeface="Calibri"/>
              </a:rPr>
              <a:t> — Generic placeholder project (ProjectID.GENERIC) blocks the level increment — replace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5303520" cy="42336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thway_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874520"/>
            <a:ext cx="5212080" cy="31019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5705856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6B6B6B"/>
                </a:solidFill>
                <a:latin typeface="Calibri"/>
              </a:rPr>
              <a:t>Pathways Library — the catalog that backs the level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STEP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Achievements, archive, and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Optional wrap-up steps and the planning handoff to the next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Achievements</a:t>
            </a:r>
            <a:r>
              <a:rPr sz="1600">
                <a:solidFill>
                  <a:srgbClr val="2C2C2C"/>
                </a:solidFill>
                <a:latin typeface="Calibri"/>
              </a:rPr>
              <a:t> — If your club uses /achievements, award any new badges (e.g. First Ice Breaker)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Archive or delete</a:t>
            </a:r>
            <a:r>
              <a:rPr sz="1600">
                <a:solidFill>
                  <a:srgbClr val="2C2C2C"/>
                </a:solidFill>
                <a:latin typeface="Calibri"/>
              </a:rPr>
              <a:t> — Leave finished meetings in the archive (default), or click Delete to hard-remove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Delete requires</a:t>
            </a:r>
            <a:r>
              <a:rPr sz="1600">
                <a:solidFill>
                  <a:srgbClr val="2C2C2C"/>
                </a:solidFill>
                <a:latin typeface="Calibri"/>
              </a:rPr>
              <a:t> — MEETING_CREATE permission; no undo — waitlist, votes, planner entries all go with it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Plan ahead</a:t>
            </a:r>
            <a:r>
              <a:rPr sz="1600">
                <a:solidFill>
                  <a:srgbClr val="2C2C2C"/>
                </a:solidFill>
                <a:latin typeface="Calibri"/>
              </a:rPr>
              <a:t> — Update templates and settings if this meeting set a new precedent (see template-manager-plan.md)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8B1A1A"/>
                </a:solidFill>
                <a:latin typeface="Calibri"/>
              </a:rPr>
              <a:t>■  </a:t>
            </a:r>
            <a:r>
              <a:rPr sz="1600" b="1">
                <a:solidFill>
                  <a:srgbClr val="2C2C2C"/>
                </a:solidFill>
                <a:latin typeface="Calibri"/>
              </a:rPr>
              <a:t>Brief the next VPE</a:t>
            </a:r>
            <a:r>
              <a:rPr sz="1600">
                <a:solidFill>
                  <a:srgbClr val="2C2C2C"/>
                </a:solidFill>
                <a:latin typeface="Calibri"/>
              </a:rPr>
              <a:t> — Pass along any quirks (custom sessions, recurring issues) before term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Meeting status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One-way transitions. To re-do a meeting, create a new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2691" y="2926080"/>
            <a:ext cx="2194560" cy="1005840"/>
          </a:xfrm>
          <a:prstGeom prst="rect">
            <a:avLst/>
          </a:prstGeom>
          <a:solidFill>
            <a:srgbClr val="8B1A1A"/>
          </a:solidFill>
          <a:ln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2691" y="292608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Unpublished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9942" y="2926080"/>
            <a:ext cx="2194560" cy="1005840"/>
          </a:xfrm>
          <a:prstGeom prst="rect">
            <a:avLst/>
          </a:prstGeom>
          <a:solidFill>
            <a:srgbClr val="D4A04C"/>
          </a:solidFill>
          <a:ln>
            <a:solidFill>
              <a:srgbClr val="D4A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9942" y="292608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Not Started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37193" y="2926080"/>
            <a:ext cx="2194560" cy="1005840"/>
          </a:xfrm>
          <a:prstGeom prst="rect">
            <a:avLst/>
          </a:prstGeom>
          <a:solidFill>
            <a:srgbClr val="5A1111"/>
          </a:solidFill>
          <a:ln>
            <a:solidFill>
              <a:srgbClr val="5A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193" y="292608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Running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14444" y="2926080"/>
            <a:ext cx="2194560" cy="1005840"/>
          </a:xfrm>
          <a:prstGeom prst="rect">
            <a:avLst/>
          </a:prstGeom>
          <a:solidFill>
            <a:srgbClr val="1E407A"/>
          </a:solidFill>
          <a:ln>
            <a:solidFill>
              <a:srgbClr val="1E4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14444" y="2926080"/>
            <a:ext cx="21945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Finished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877251.0" y="3429000.0"/>
            <a:ext cx="408371.0" cy="0.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877251" y="2423160"/>
            <a:ext cx="6826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Calibri"/>
              </a:rPr>
              <a:t>Publish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54502.0" y="3429000.0"/>
            <a:ext cx="408371.0" cy="0.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54502" y="2423160"/>
            <a:ext cx="6826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Calibri"/>
              </a:rPr>
              <a:t>Start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31753.0" y="3429000.0"/>
            <a:ext cx="408371.0" cy="0.0"/>
          </a:xfrm>
          <a:prstGeom prst="line">
            <a:avLst/>
          </a:prstGeom>
          <a:ln w="19050">
            <a:solidFill>
              <a:srgbClr val="6B6B6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31753" y="2423160"/>
            <a:ext cx="6826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6B6B6B"/>
                </a:solidFill>
                <a:latin typeface="Calibri"/>
              </a:rPr>
              <a:t>Stop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solidFill>
            <a:srgbClr val="FAFAFA"/>
          </a:solidFill>
          <a:ln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0908792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>
                <a:solidFill>
                  <a:srgbClr val="2C2C2C"/>
                </a:solidFill>
                <a:latin typeface="Calibri"/>
              </a:rPr>
              <a:t>From Finished → Delete (only if MEETING_CREATE permission).  Hard delete: votes, roster, waitlist, planner entries, and session logs all removed. No undo.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Auto-actions on Stop: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votes tallied  ·  waitlist cleared  ·  Planner booked→completed  ·  projects auto-completed  ·  contact metadata re-synced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Permissions cheat sheet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Most of this deck assumes the standard VPE role grants these.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91672" cy="41148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92024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Permission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317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Create a meeting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33172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MEETING_CREATE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432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Edit agenda (sessions, WOD, projects)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74320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5468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Assign / remove role owners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15468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56616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Publish / Start / Stop the 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56616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7764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9776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Delete a finished meeting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397764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MEETING_CREATE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1109167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View all meetings (incl. unpublished)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38912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MEETING_VIEW_ALL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00600"/>
            <a:ext cx="11091672" cy="411480"/>
          </a:xfrm>
          <a:prstGeom prst="rect">
            <a:avLst/>
          </a:prstGeom>
          <a:solidFill>
            <a:srgbClr val="FAFAFA"/>
          </a:solidFill>
          <a:ln w="635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0060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Generate slides / export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80060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8B1A1A"/>
                </a:solidFill>
                <a:latin typeface="Calibri"/>
              </a:rPr>
              <a:t>MEETING_MANAGE + module 'Data/Slides Export'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52160"/>
            <a:ext cx="110916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If a button is greyed out, you are missing the corresponding permission. Ask a ClubAdmin or check Settings → Users.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Common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Things that have bitten VPEs before. Avoid these.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08792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Publishing too early</a:t>
            </a:r>
            <a:r>
              <a:rPr sz="1500">
                <a:solidFill>
                  <a:srgbClr val="2C2C2C"/>
                </a:solidFill>
                <a:latin typeface="Calibri"/>
              </a:rPr>
              <a:t> — Members can book roles as soon as the meeting is published. Finalise structure first.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Wrong Pathways project</a:t>
            </a:r>
            <a:r>
              <a:rPr sz="1500">
                <a:solidFill>
                  <a:srgbClr val="2C2C2C"/>
                </a:solidFill>
                <a:latin typeface="Calibri"/>
              </a:rPr>
              <a:t> — A wrong project pollutes the speaker's record. Ask if unsure — don't guess.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Clicking Stop by accident</a:t>
            </a:r>
            <a:r>
              <a:rPr sz="1500">
                <a:solidFill>
                  <a:srgbClr val="2C2C2C"/>
                </a:solidFill>
                <a:latin typeface="Calibri"/>
              </a:rPr>
              <a:t> — The meeting is sealed. The only recovery path is cloning the meeting or restoring from backup.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Forgetting to assign an evaluator</a:t>
            </a:r>
            <a:r>
              <a:rPr sz="1500">
                <a:solidFill>
                  <a:srgbClr val="2C2C2C"/>
                </a:solidFill>
                <a:latin typeface="Calibri"/>
              </a:rPr>
              <a:t> — Backfill the night before. Evaluators are just owners of evaluator-type sessions.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Editing the date after publishing</a:t>
            </a:r>
            <a:r>
              <a:rPr sz="1500">
                <a:solidFill>
                  <a:srgbClr val="2C2C2C"/>
                </a:solidFill>
                <a:latin typeface="Calibri"/>
              </a:rPr>
              <a:t> — Meeting Number auto-renames; the poster file is renamed too. Verify both after the change.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Generic project on a prepared speech</a:t>
            </a:r>
            <a:r>
              <a:rPr sz="1500">
                <a:solidFill>
                  <a:srgbClr val="2C2C2C"/>
                </a:solidFill>
                <a:latin typeface="Calibri"/>
              </a:rPr>
              <a:t> — ProjectID.GENERIC blocks the level increment. Replace with the real project and re-save.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Glossary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Terms used throughout this deck.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908792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VPE</a:t>
            </a:r>
            <a:r>
              <a:rPr sz="1500">
                <a:solidFill>
                  <a:srgbClr val="2C2C2C"/>
                </a:solidFill>
                <a:latin typeface="Calibri"/>
              </a:rPr>
              <a:t> — Vice President Education — owns the meeting's content and Pathways tracking.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SAA</a:t>
            </a:r>
            <a:r>
              <a:rPr sz="1500">
                <a:solidFill>
                  <a:srgbClr val="2C2C2C"/>
                </a:solidFill>
                <a:latin typeface="Calibri"/>
              </a:rPr>
              <a:t> — Sergeant at Arms — owns the room, check-in, voting tallying, and lucky draw.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TME</a:t>
            </a:r>
            <a:r>
              <a:rPr sz="1500">
                <a:solidFill>
                  <a:srgbClr val="2C2C2C"/>
                </a:solidFill>
                <a:latin typeface="Calibri"/>
              </a:rPr>
              <a:t> — Toastmaster of the Evening — runs the meeting on the night.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WOD</a:t>
            </a:r>
            <a:r>
              <a:rPr sz="1500">
                <a:solidFill>
                  <a:srgbClr val="2C2C2C"/>
                </a:solidFill>
                <a:latin typeface="Calibri"/>
              </a:rPr>
              <a:t> — Word of the Day — the Memory Maker's traditional responsibility; used by speakers and TME.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Pathway</a:t>
            </a:r>
            <a:r>
              <a:rPr sz="1500">
                <a:solidFill>
                  <a:srgbClr val="2C2C2C"/>
                </a:solidFill>
                <a:latin typeface="Calibri"/>
              </a:rPr>
              <a:t> — Toastmasters' learning experience, made up of projects across multiple levels.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Session Log</a:t>
            </a:r>
            <a:r>
              <a:rPr sz="1500">
                <a:solidFill>
                  <a:srgbClr val="2C2C2C"/>
                </a:solidFill>
                <a:latin typeface="Calibri"/>
              </a:rPr>
              <a:t> — A row in the agenda table — one per agenda item (TME, Table Topics, Speech, Eval, etc.).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Planner</a:t>
            </a:r>
            <a:r>
              <a:rPr sz="1500">
                <a:solidFill>
                  <a:srgbClr val="2C2C2C"/>
                </a:solidFill>
                <a:latin typeface="Calibri"/>
              </a:rPr>
              <a:t> — A member's personal plan: which project they intend to deliver in which meeting.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8B1A1A"/>
                </a:solidFill>
                <a:latin typeface="Calibri"/>
              </a:rPr>
              <a:t>■  </a:t>
            </a:r>
            <a:r>
              <a:rPr sz="1500" b="1">
                <a:solidFill>
                  <a:srgbClr val="2C2C2C"/>
                </a:solidFill>
                <a:latin typeface="Calibri"/>
              </a:rPr>
              <a:t>Waitlist</a:t>
            </a:r>
            <a:r>
              <a:rPr sz="1500">
                <a:solidFill>
                  <a:srgbClr val="2C2C2C"/>
                </a:solidFill>
                <a:latin typeface="Calibri"/>
              </a:rPr>
              <a:t> — Auto-managed queue for full slots. Next person is promoted when the owner cancels.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11480"/>
            <a:ext cx="164592" cy="164592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8B1A1A"/>
                </a:solidFill>
                <a:latin typeface="Calibri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5A1111"/>
                </a:solidFill>
                <a:latin typeface="Calibri"/>
              </a:rPr>
              <a:t>Where to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  <a:latin typeface="Calibri"/>
              </a:rPr>
              <a:t>Related docs in this repository.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SAA — checklist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docs/SAA_MemMaker_User_Manual.md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0428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SAA — grid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304288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docs/SAA_User_Manual_Grid.md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88336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88336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All officers at-a-glance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688336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docs/getting_started.md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72384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72384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Pathways deep-dive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072384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 (search 'pathways')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456432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456432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Template editing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456432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docs/template-manager-plan.md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40480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40480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Voting / live updates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3840480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docs/MAILBOX_REALTIME_DESIGN.md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24528"/>
            <a:ext cx="11091672" cy="384048"/>
          </a:xfrm>
          <a:prstGeom prst="rect">
            <a:avLst/>
          </a:prstGeom>
          <a:solidFill>
            <a:srgbClr val="FAFAFA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24528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User / contact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224528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docs/CONTACT_USER_CLUB_MODEL.md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08576"/>
            <a:ext cx="11091672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8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608576"/>
            <a:ext cx="50292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2C2C2C"/>
                </a:solidFill>
                <a:latin typeface="Calibri"/>
              </a:rPr>
              <a:t>This deck's source doc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4608576"/>
            <a:ext cx="5760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8B1A1A"/>
                </a:solidFill>
                <a:latin typeface="Calibri"/>
              </a:rPr>
              <a:t>docs/VPE_MemMaker_Tutorial.md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537960"/>
            <a:ext cx="11091672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836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Memory Maker — VPE Tutorial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6B6B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A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468880"/>
            <a:ext cx="548640" cy="548640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D4A04C"/>
                </a:solidFill>
                <a:latin typeface="Calibri"/>
              </a:rPr>
              <a:t>YOU'RE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Manage the cycle with confidence.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F0E0C0"/>
                </a:solidFill>
                <a:latin typeface="Calibri"/>
              </a:rPr>
              <a:t>Plan with care, publish once, stay calm on the night, and let Memory Maker do the bookkeeping at the 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486400"/>
            <a:ext cx="1828800" cy="28575"/>
          </a:xfrm>
          <a:prstGeom prst="rect">
            <a:avLst/>
          </a:prstGeom>
          <a:solidFill>
            <a:srgbClr val="D4A0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D0C0A0"/>
                </a:solidFill>
                <a:latin typeface="Calibri"/>
              </a:rPr>
              <a:t>Questions? Ping a ClubAdmin or open an issue from /issues.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83680"/>
            <a:ext cx="1124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0B090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